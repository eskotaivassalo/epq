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4" r:id="rId4"/>
    <p:sldId id="263" r:id="rId5"/>
    <p:sldId id="258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 rtl="0">
      <a:defRPr lang="fi-FI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0EB"/>
    <a:srgbClr val="ACC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30A30-2128-5AD9-43F3-F624B1C72C1F}" v="135" dt="2024-05-30T15:42:36.583"/>
    <p1510:client id="{993E5B16-140D-CDB3-B554-DDA2806EF87F}" v="1563" dt="2024-05-30T16:37:10.008"/>
    <p1510:client id="{AC483BA1-0346-9328-69A8-617A0714DF76}" v="306" dt="2024-05-30T15:53:05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6623" autoAdjust="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>
            <a:extLst>
              <a:ext uri="{FF2B5EF4-FFF2-40B4-BE49-F238E27FC236}">
                <a16:creationId xmlns:a16="http://schemas.microsoft.com/office/drawing/2014/main" id="{57F1FC47-D6FF-45F9-849B-2F803BAA32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E929147C-E0D2-459E-A060-90EDF2F766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EE038-55D1-4BA5-B56E-58B8AE506EE7}" type="datetime1">
              <a:rPr lang="fi-FI" smtClean="0"/>
              <a:t>2.6.2024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32EB1D7E-34C3-430A-B0F6-4B43B6F85D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DD58C370-6493-4E27-81EC-123BEAE02B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544A4-ED9E-410C-B6DD-60D95E2DB821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626000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 noProof="0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60B7B-1D6F-4B1E-9E76-8CA9E2C1680F}" type="datetime1">
              <a:rPr lang="fi-FI" smtClean="0"/>
              <a:pPr/>
              <a:t>2.6.2024</a:t>
            </a:fld>
            <a:endParaRPr lang="fi-FI" dirty="0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noProof="0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 noProof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D19DB-9C14-41A1-9058-77774C043268}" type="slidenum">
              <a:rPr lang="fi-FI" noProof="0" smtClean="0"/>
              <a:t>‹#›</a:t>
            </a:fld>
            <a:endParaRPr lang="fi-FI" noProof="0"/>
          </a:p>
        </p:txBody>
      </p:sp>
    </p:spTree>
    <p:extLst>
      <p:ext uri="{BB962C8B-B14F-4D97-AF65-F5344CB8AC3E}">
        <p14:creationId xmlns:p14="http://schemas.microsoft.com/office/powerpoint/2010/main" val="40912019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D19DB-9C14-41A1-9058-77774C043268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07859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rtlCol="0"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rtl="0"/>
            <a:r>
              <a:rPr lang="fi-FI" noProof="0"/>
              <a:t>Muokkaa ots.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i-FI" noProof="0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A1C3B8-D7CA-406A-8B26-CA33484A513C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09D350-BBFE-4E52-BBBB-DF75030747B1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751013" y="3308581"/>
            <a:ext cx="8686800" cy="1468800"/>
          </a:xfrm>
        </p:spPr>
        <p:txBody>
          <a:bodyPr rtlCol="0" anchor="b"/>
          <a:lstStyle>
            <a:lvl1pPr algn="r">
              <a:defRPr sz="4000" b="0" cap="all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20D279-3FEB-4B3A-AD72-A0ED32F83958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C06DBC-48E4-4A45-8818-AB0A2E9FA007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B941F1-304E-48FC-9962-C4FC7A8900E0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692CE6-9924-44C1-A80D-015C6CB6303B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84FC1B-C41D-420F-BB7F-B6373AB2804C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1" y="1600200"/>
            <a:ext cx="3549121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ED6785-DDF1-4C0F-999B-60EAB1936E15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 ja 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1" y="1600200"/>
            <a:ext cx="5334001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14" name="Kuvan paikkamerkki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i-FI" noProof="0"/>
              <a:t>Lisää kuva napsauttamalla kuvaketta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 rtlCol="0"/>
          <a:lstStyle/>
          <a:p>
            <a:pPr rtl="0"/>
            <a:fld id="{50325099-127E-43CC-AB51-6A2BECA23131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amakuva ja 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3" y="4732865"/>
            <a:ext cx="99060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Kuvan paikkamerkki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i-FI" noProof="0"/>
              <a:t>Lisää kuva napsauttamalla kuvaketta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27103A-6363-4700-B202-29B71B03662D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tsikko ja 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2" y="609601"/>
            <a:ext cx="9905999" cy="3124199"/>
          </a:xfrm>
        </p:spPr>
        <p:txBody>
          <a:bodyPr rtlCol="0" anchor="ctr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70987-3A22-4B42-8609-E33364610A2A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inaus ja 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kstiruutu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i-FI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5" name="Tekstiruutu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i-FI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10" name="Tekstin paikkamerkki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 rtl="0">
              <a:buNone/>
            </a:pPr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E2E27C-D27A-4FD5-9976-B2553258E8F8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mikort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2" y="3308581"/>
            <a:ext cx="9906000" cy="1468800"/>
          </a:xfrm>
        </p:spPr>
        <p:txBody>
          <a:bodyPr rtlCol="0" anchor="b">
            <a:normAutofit/>
          </a:bodyPr>
          <a:lstStyle>
            <a:lvl1pPr algn="l">
              <a:defRPr sz="3200" b="0" cap="all"/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 rtl="0">
              <a:buNone/>
            </a:pPr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39A718-F31A-4CE0-97B1-144B875D6144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inausnimikort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kstiruutu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i-FI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5" name="Tekstiruutu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i-FI" sz="8000" noProof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446213" y="609601"/>
            <a:ext cx="9296398" cy="2743199"/>
          </a:xfrm>
        </p:spPr>
        <p:txBody>
          <a:bodyPr rtlCol="0"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10" name="Tekstin paikkamerkki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fi-FI" noProof="0"/>
              <a:t>Muokkaa tekstin perustyylejä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49EBD-7634-4E21-AF22-EFEBAF653CE7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si tai epäto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 hasCustomPrompt="1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fi-FI" noProof="0"/>
              <a:t>Muokkaa otsikon perustyyliä napsauttamalla</a:t>
            </a:r>
          </a:p>
        </p:txBody>
      </p:sp>
      <p:sp>
        <p:nvSpPr>
          <p:cNvPr id="10" name="Tekstin paikkamerkki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fi-FI" noProof="0"/>
              <a:t>Muokkaa tekstin perustyylejä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i-FI" noProof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019E68-DBE0-491C-875F-B186F33F35AA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untainen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tsikko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Pystysuuntaise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537F8-9BC2-402F-949F-5E93C20A0AB0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untainen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untainen otsikko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609599"/>
            <a:ext cx="2210514" cy="5181601"/>
          </a:xfrm>
        </p:spPr>
        <p:txBody>
          <a:bodyPr vert="eaVert" rtlCol="0"/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Pystysuuntaisen tekstin paikkamerkki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rtlCol="0" anchor="t"/>
          <a:lstStyle/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6024B6-61F0-4A58-800D-1A5EC90DE7D1}" type="datetime1">
              <a:rPr lang="fi-FI" noProof="0" smtClean="0"/>
              <a:t>2.6.2024</a:t>
            </a:fld>
            <a:endParaRPr lang="fi-FI" noProof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Glass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i-FI" noProof="0"/>
              <a:t>Muokkaa otsikon perustyyliä napsauttamalla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i-FI" noProof="0"/>
              <a:t>Muokkaa tekstin perustyylejä napsauttamalla</a:t>
            </a:r>
          </a:p>
          <a:p>
            <a:pPr lvl="1" rtl="0"/>
            <a:r>
              <a:rPr lang="fi-FI" noProof="0"/>
              <a:t>Toinen taso</a:t>
            </a:r>
          </a:p>
          <a:p>
            <a:pPr lvl="2" rtl="0"/>
            <a:r>
              <a:rPr lang="fi-FI" noProof="0"/>
              <a:t>Kolmas taso</a:t>
            </a:r>
          </a:p>
          <a:p>
            <a:pPr lvl="3" rtl="0"/>
            <a:r>
              <a:rPr lang="fi-FI" noProof="0"/>
              <a:t>Neljäs taso</a:t>
            </a:r>
          </a:p>
          <a:p>
            <a:pPr lvl="4" rtl="0"/>
            <a:r>
              <a:rPr lang="fi-FI" noProof="0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07307F60-77E8-427A-B198-56007137FE8B}" type="datetime1">
              <a:rPr lang="fi-FI" noProof="0" smtClean="0"/>
              <a:t>2.6.2024</a:t>
            </a:fld>
            <a:endParaRPr lang="fi-FI" noProof="0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endParaRPr lang="fi-FI" noProof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rtl="0"/>
            <a:fld id="{D57F1E4F-1CFF-5643-939E-217C01CDF565}" type="slidenum">
              <a:rPr lang="fi-FI" noProof="0" smtClean="0"/>
              <a:pPr/>
              <a:t>‹#›</a:t>
            </a:fld>
            <a:endParaRPr lang="fi-FI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xd.adobe.com/view/55600860-51d1-4d7b-96de-9a34324761a6-0033/screen/905f7c88-6b6a-4c3b-8ecf-497cb74e1f97?fullscre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dropbox.com/scl/fi/8ktsqp71jia0qhbe8rrik/LIIKETOIMINTA-melkeen-valmis.odt?rlkey=jrt65u45ifytjpttjqe98foji&amp;st=z823j1bf&amp;dl=0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D46B04C9-B85D-45AA-A7D1-483C3CA6D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965199" y="965199"/>
            <a:ext cx="7465879" cy="4927604"/>
          </a:xfrm>
        </p:spPr>
        <p:txBody>
          <a:bodyPr rtlCol="0" anchor="t">
            <a:normAutofit/>
          </a:bodyPr>
          <a:lstStyle/>
          <a:p>
            <a:pPr algn="l"/>
            <a:r>
              <a:rPr lang="fi-FI" sz="6200" dirty="0" err="1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DreamButton</a:t>
            </a:r>
            <a:r>
              <a:rPr lang="fi-FI" sz="62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Oy</a:t>
            </a:r>
            <a:endParaRPr lang="fi-FI" sz="6200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4092315" y="965199"/>
            <a:ext cx="7134481" cy="4927603"/>
          </a:xfrm>
        </p:spPr>
        <p:txBody>
          <a:bodyPr rtlCol="0" anchor="b">
            <a:normAutofit/>
          </a:bodyPr>
          <a:lstStyle/>
          <a:p>
            <a:pPr algn="r"/>
            <a:r>
              <a:rPr lang="fi-FI" sz="28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Sovelluskehityksestä</a:t>
            </a:r>
          </a:p>
          <a:p>
            <a:pPr algn="r"/>
            <a:r>
              <a:rPr lang="fi-FI" sz="28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palvelun tarjoajaksi</a:t>
            </a:r>
          </a:p>
        </p:txBody>
      </p:sp>
    </p:spTree>
    <p:extLst>
      <p:ext uri="{BB962C8B-B14F-4D97-AF65-F5344CB8AC3E}">
        <p14:creationId xmlns:p14="http://schemas.microsoft.com/office/powerpoint/2010/main" val="2979223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AED35D8-D0C4-21CA-D6D2-5FB3BB7C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i-FI" dirty="0" err="1">
                <a:solidFill>
                  <a:schemeClr val="tx2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DreamButton</a:t>
            </a: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Oy:n Tarina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BB65F09-13BF-36BE-91B4-2DC3696B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rgbClr val="FFFFFF"/>
              </a:buClr>
            </a:pP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Perustettu v.2020</a:t>
            </a:r>
          </a:p>
          <a:p>
            <a:pPr>
              <a:buClr>
                <a:srgbClr val="FFFFFF"/>
              </a:buClr>
            </a:pPr>
            <a:r>
              <a:rPr lang="fi-FI" dirty="0" err="1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Start-up</a:t>
            </a: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- idea: </a:t>
            </a:r>
            <a:r>
              <a:rPr lang="fi-FI" dirty="0" err="1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Featsy</a:t>
            </a: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- puhelinsovellus</a:t>
            </a:r>
          </a:p>
          <a:p>
            <a:pPr>
              <a:buClr>
                <a:srgbClr val="FFFFFF"/>
              </a:buClr>
            </a:pP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Sovelluskehittäjäksi moniammatilliselta pohjalta; putkimies, prosessinhoitaja, taksikuski</a:t>
            </a:r>
          </a:p>
          <a:p>
            <a:pPr>
              <a:buClr>
                <a:srgbClr val="FFFFFF"/>
              </a:buClr>
            </a:pP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Ajatuksena päästä hyödyntämään omaa innovatiivisuutta ja kiinnostusta erilaisiin asioihin.</a:t>
            </a:r>
          </a:p>
          <a:p>
            <a:pPr>
              <a:buClr>
                <a:srgbClr val="FFFFFF"/>
              </a:buClr>
            </a:pP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Kantavana voimana usko siihen että jossain kohtaa löytyy idea sovellukselle kun kokemusta monelta alalta. Usko että koodausosaamisen yhdistäminen muuhun aiemmin hankittuun osaamiseen mahdollistaa mullistavan innovaation.</a:t>
            </a:r>
          </a:p>
          <a:p>
            <a:pPr>
              <a:buClr>
                <a:srgbClr val="FFFFFF"/>
              </a:buClr>
            </a:pPr>
            <a:r>
              <a:rPr lang="fi-FI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Osakkaat: Esko Taivassalo(TJ), Juho Heikkilä, Koodari, Hallituksen varajäsen. Odottanut  Espanjassa mullistavaa sovellusideaa jo pari vuotta.</a:t>
            </a:r>
          </a:p>
          <a:p>
            <a:pPr>
              <a:buClr>
                <a:srgbClr val="FFFFFF"/>
              </a:buClr>
            </a:pPr>
            <a:endParaRPr lang="fi-FI" dirty="0">
              <a:solidFill>
                <a:schemeClr val="tx1">
                  <a:lumMod val="95000"/>
                </a:schemeClr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buClr>
                <a:srgbClr val="FFFFFF"/>
              </a:buClr>
            </a:pPr>
            <a:endParaRPr lang="fi-FI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446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E5C3C56-2A6C-0526-5CA3-50BB1DB0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18" y="609600"/>
            <a:ext cx="6223821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000" i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-</a:t>
            </a:r>
            <a:r>
              <a:rPr lang="en-US" sz="2000" i="1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Jollaista</a:t>
            </a:r>
            <a:r>
              <a:rPr lang="en-US" sz="2000" i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 </a:t>
            </a:r>
            <a:r>
              <a:rPr lang="en-US" sz="2000" i="1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ei</a:t>
            </a:r>
            <a:r>
              <a:rPr lang="en-US" sz="2000" i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 ole </a:t>
            </a:r>
            <a:r>
              <a:rPr lang="en-US" sz="2000" i="1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ennen</a:t>
            </a:r>
            <a:r>
              <a:rPr lang="en-US" sz="2000" i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 </a:t>
            </a:r>
            <a:r>
              <a:rPr lang="en-US" sz="2000" i="1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nähty</a:t>
            </a:r>
            <a:endParaRPr lang="en-US" sz="20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Abadi" panose="020B0604020104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EAF1E0-ACA2-3772-38C4-CFF193E7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17" y="4365523"/>
            <a:ext cx="6223821" cy="17930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 i="1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    </a:t>
            </a:r>
            <a:r>
              <a:rPr lang="en-US" sz="3200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Abadi" panose="020B0604020104020204" pitchFamily="34" charset="0"/>
              </a:rPr>
              <a:t>Featsy</a:t>
            </a:r>
            <a:r>
              <a:rPr lang="en-US" sz="32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Abadi" panose="020B0604020104020204" pitchFamily="34" charset="0"/>
              </a:rPr>
              <a:t> </a:t>
            </a:r>
            <a:r>
              <a:rPr lang="en-US" sz="3200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Abadi" panose="020B0604020104020204" pitchFamily="34" charset="0"/>
              </a:rPr>
              <a:t>Kaverihakusovellus</a:t>
            </a:r>
            <a:endParaRPr lang="en-US" sz="3200" i="1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400000" scaled="0"/>
                <a:tileRect/>
              </a:gradFill>
              <a:latin typeface="Abadi" panose="020B0604020104020204" pitchFamily="34" charset="0"/>
            </a:endParaRPr>
          </a:p>
        </p:txBody>
      </p:sp>
      <p:pic>
        <p:nvPicPr>
          <p:cNvPr id="4" name="Sisällön paikkamerkki 3">
            <a:extLst>
              <a:ext uri="{FF2B5EF4-FFF2-40B4-BE49-F238E27FC236}">
                <a16:creationId xmlns:a16="http://schemas.microsoft.com/office/drawing/2014/main" id="{493E1AE6-105A-2709-5133-61466007C6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3992" y1="67699" x2="13992" y2="67699"/>
                        <a14:foregroundMark x1="25103" y1="80088" x2="25103" y2="80088"/>
                        <a14:foregroundMark x1="46091" y1="84071" x2="46091" y2="84071"/>
                        <a14:foregroundMark x1="55144" y1="82743" x2="55144" y2="82743"/>
                        <a14:foregroundMark x1="67490" y1="84071" x2="67490" y2="84071"/>
                        <a14:foregroundMark x1="76955" y1="82301" x2="76955" y2="82301"/>
                        <a14:foregroundMark x1="58025" y1="38496" x2="58025" y2="38496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582" r="6792" b="1"/>
          <a:stretch/>
        </p:blipFill>
        <p:spPr>
          <a:xfrm>
            <a:off x="633999" y="1371316"/>
            <a:ext cx="4001315" cy="4106269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82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3">
            <a:extLst>
              <a:ext uri="{FF2B5EF4-FFF2-40B4-BE49-F238E27FC236}">
                <a16:creationId xmlns:a16="http://schemas.microsoft.com/office/drawing/2014/main" id="{833F5045-5779-4E8F-9507-636D7A19E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873A01CD-FF02-EF75-96D9-FADEA351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464" y="326757"/>
            <a:ext cx="4428700" cy="1905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latin typeface="Abadi" panose="020B0604020104020204" pitchFamily="34" charset="0"/>
              </a:rPr>
              <a:t>Featsysovelluksen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katselmus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182FD42-538D-C4ED-176D-FEDC892D9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41" y="2231757"/>
            <a:ext cx="5027672" cy="3559444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Yksinkertainen</a:t>
            </a:r>
            <a:r>
              <a:rPr lang="en-US" sz="2400" dirty="0">
                <a:latin typeface="Abadi" panose="020B0604020104020204" pitchFamily="34" charset="0"/>
              </a:rPr>
              <a:t> ja </a:t>
            </a:r>
            <a:r>
              <a:rPr lang="en-US" sz="2400" dirty="0" err="1">
                <a:latin typeface="Abadi" panose="020B0604020104020204" pitchFamily="34" charset="0"/>
              </a:rPr>
              <a:t>helppokäyttöinen</a:t>
            </a:r>
            <a:endParaRPr lang="en-US" sz="2400" dirty="0">
              <a:latin typeface="Abadi" panose="020B0604020104020204" pitchFamily="34" charset="0"/>
            </a:endParaRPr>
          </a:p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Selkeä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visuaalinen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ilme</a:t>
            </a:r>
            <a:endParaRPr lang="en-US" sz="2400" dirty="0">
              <a:latin typeface="Abadi" panose="020B0604020104020204" pitchFamily="34" charset="0"/>
            </a:endParaRPr>
          </a:p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Työkalumainen</a:t>
            </a:r>
            <a:endParaRPr lang="en-US" sz="2400" dirty="0">
              <a:latin typeface="Abadi" panose="020B0604020104020204" pitchFamily="34" charset="0"/>
            </a:endParaRPr>
          </a:p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Turhan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tiedon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suodatus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kategorioiden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avulla</a:t>
            </a:r>
            <a:endParaRPr lang="en-US" sz="2400" dirty="0">
              <a:latin typeface="Abadi" panose="020B0604020104020204" pitchFamily="34" charset="0"/>
            </a:endParaRPr>
          </a:p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Tarkoitettu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seuranhakusovellukseksi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heille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jotka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eivät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kaipaa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siihen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somettamista</a:t>
            </a:r>
            <a:r>
              <a:rPr lang="en-US" sz="2400" dirty="0">
                <a:latin typeface="Abadi" panose="020B0604020104020204" pitchFamily="34" charset="0"/>
              </a:rPr>
              <a:t> ja </a:t>
            </a:r>
            <a:r>
              <a:rPr lang="en-US" sz="2400" dirty="0" err="1">
                <a:latin typeface="Abadi" panose="020B0604020104020204" pitchFamily="34" charset="0"/>
              </a:rPr>
              <a:t>näkyvillä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dirty="0" err="1">
                <a:latin typeface="Abadi" panose="020B0604020104020204" pitchFamily="34" charset="0"/>
              </a:rPr>
              <a:t>oloa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pPr marL="285750" indent="-285750"/>
            <a:r>
              <a:rPr lang="en-US" sz="2400" dirty="0" err="1">
                <a:latin typeface="Abadi" panose="020B0604020104020204" pitchFamily="34" charset="0"/>
              </a:rPr>
              <a:t>Mahdollistaa</a:t>
            </a:r>
            <a:r>
              <a:rPr lang="en-US" sz="2400" dirty="0">
                <a:latin typeface="Abadi" panose="020B0604020104020204" pitchFamily="34" charset="0"/>
              </a:rPr>
              <a:t> “</a:t>
            </a:r>
            <a:r>
              <a:rPr lang="en-US" sz="2400" dirty="0" err="1">
                <a:latin typeface="Abadi" panose="020B0604020104020204" pitchFamily="34" charset="0"/>
              </a:rPr>
              <a:t>anonyymin</a:t>
            </a:r>
            <a:r>
              <a:rPr lang="en-US" sz="2400" dirty="0">
                <a:latin typeface="Abadi" panose="020B0604020104020204" pitchFamily="34" charset="0"/>
              </a:rPr>
              <a:t>” </a:t>
            </a:r>
            <a:r>
              <a:rPr lang="en-US" sz="2400" dirty="0" err="1">
                <a:latin typeface="Abadi" panose="020B0604020104020204" pitchFamily="34" charset="0"/>
              </a:rPr>
              <a:t>seuranhaun</a:t>
            </a:r>
            <a:endParaRPr lang="en-US" sz="2400" dirty="0">
              <a:latin typeface="Abadi" panose="020B0604020104020204" pitchFamily="34" charset="0"/>
            </a:endParaRPr>
          </a:p>
          <a:p>
            <a:r>
              <a:rPr lang="fi-FI" sz="24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  <a:hlinkClick r:id="rId2"/>
              </a:rPr>
              <a:t>Featsyn</a:t>
            </a:r>
            <a:r>
              <a:rPr lang="fi-FI" sz="24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  <a:hlinkClick r:id="rId2"/>
              </a:rPr>
              <a:t> prototyyppi</a:t>
            </a:r>
            <a:endParaRPr lang="fi-FI" sz="24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badi" panose="020B0604020104020204" pitchFamily="34" charset="0"/>
              <a:cs typeface="Aharoni" panose="02010803020104030203" pitchFamily="2" charset="-79"/>
            </a:endParaRPr>
          </a:p>
          <a:p>
            <a:pPr marL="285750" indent="-285750"/>
            <a:endParaRPr lang="en-US" sz="2400" dirty="0">
              <a:latin typeface="Abadi" panose="020B0604020104020204" pitchFamily="34" charset="0"/>
            </a:endParaRPr>
          </a:p>
          <a:p>
            <a:endParaRPr lang="en-US" dirty="0"/>
          </a:p>
          <a:p>
            <a:pPr marL="285750" indent="-285750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8C8ED6-A932-44F5-83A5-5793DDA44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C245B6C8-7F5A-FD0D-C9B1-429EF8EE55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43" r="-3" b="18161"/>
          <a:stretch/>
        </p:blipFill>
        <p:spPr>
          <a:xfrm>
            <a:off x="6256868" y="4070817"/>
            <a:ext cx="1896722" cy="2626315"/>
          </a:xfrm>
          <a:prstGeom prst="rect">
            <a:avLst/>
          </a:prstGeom>
        </p:spPr>
      </p:pic>
      <p:pic>
        <p:nvPicPr>
          <p:cNvPr id="10" name="Kuva 9">
            <a:extLst>
              <a:ext uri="{FF2B5EF4-FFF2-40B4-BE49-F238E27FC236}">
                <a16:creationId xmlns:a16="http://schemas.microsoft.com/office/drawing/2014/main" id="{B94B83A6-1A0C-A134-C928-EA58DA39E1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095" r="-1" b="25672"/>
          <a:stretch/>
        </p:blipFill>
        <p:spPr>
          <a:xfrm>
            <a:off x="8314455" y="3100590"/>
            <a:ext cx="3716680" cy="3615331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3F093752-DB47-6BE0-FFCE-AA87417DA9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092" r="-1" b="48889"/>
          <a:stretch/>
        </p:blipFill>
        <p:spPr>
          <a:xfrm>
            <a:off x="6256867" y="160868"/>
            <a:ext cx="5774267" cy="3747805"/>
          </a:xfrm>
          <a:custGeom>
            <a:avLst/>
            <a:gdLst/>
            <a:ahLst/>
            <a:cxnLst/>
            <a:rect l="l" t="t" r="r" b="b"/>
            <a:pathLst>
              <a:path w="5774267" h="3747805">
                <a:moveTo>
                  <a:pt x="0" y="0"/>
                </a:moveTo>
                <a:lnTo>
                  <a:pt x="3767328" y="0"/>
                </a:lnTo>
                <a:lnTo>
                  <a:pt x="3767328" y="1"/>
                </a:lnTo>
                <a:lnTo>
                  <a:pt x="5774267" y="1"/>
                </a:lnTo>
                <a:lnTo>
                  <a:pt x="5774267" y="2778855"/>
                </a:lnTo>
                <a:lnTo>
                  <a:pt x="3767328" y="2778855"/>
                </a:lnTo>
                <a:lnTo>
                  <a:pt x="3767328" y="2778856"/>
                </a:lnTo>
                <a:lnTo>
                  <a:pt x="1896721" y="2778856"/>
                </a:lnTo>
                <a:lnTo>
                  <a:pt x="1896721" y="3747805"/>
                </a:lnTo>
                <a:lnTo>
                  <a:pt x="0" y="374780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8802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2497E4E-673F-DC9C-6C0C-113E5252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fi-FI" dirty="0" err="1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Featsyn</a:t>
            </a:r>
            <a:r>
              <a:rPr lang="fi-FI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kehityshistoria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E9F7E12-B646-4EA7-5B67-A786CD1E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30" y="2088262"/>
            <a:ext cx="6573684" cy="416013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Haettu ja saatu Business Finlandin Innovaatioseteli prototyypille. </a:t>
            </a:r>
            <a:endParaRPr lang="fi-FI" dirty="0">
              <a:latin typeface="Abadi" panose="020B0604020104020204" pitchFamily="34" charset="0"/>
              <a:cs typeface="Aharoni" panose="02010803020104030203" pitchFamily="2" charset="-79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Sovelluskehitykselle on haettu yhteistyökumppaneita, mm Suomen mielenterveys-seura,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Kymsote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 ym.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Kymsotella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 sovellus pääsi jopa aamupalaveriin keskustelun aiheeksi vaihtoehdoksi yksinäisyyden vähentämisessä.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Prototyyppi toteutettiin ulkopuolisella sovelluskehitysfirmalla(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Oddy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 Tech)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Kymsote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 piti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prototyypista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, Eivät sitten kuitenkaan saaneet tiimiä ja rahoitusta asialle.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fi-FI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badi" panose="020B0604020104020204" pitchFamily="34" charset="0"/>
              <a:cs typeface="Aharoni" panose="02010803020104030203" pitchFamily="2" charset="-79"/>
            </a:endParaRPr>
          </a:p>
        </p:txBody>
      </p:sp>
      <p:pic>
        <p:nvPicPr>
          <p:cNvPr id="4" name="Sisällön paikkamerkki 3">
            <a:extLst>
              <a:ext uri="{FF2B5EF4-FFF2-40B4-BE49-F238E27FC236}">
                <a16:creationId xmlns:a16="http://schemas.microsoft.com/office/drawing/2014/main" id="{B85E6EFA-13DE-40D0-3806-4B124A23E5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3992" y1="67699" x2="13992" y2="67699"/>
                        <a14:foregroundMark x1="25103" y1="80088" x2="25103" y2="80088"/>
                        <a14:foregroundMark x1="46091" y1="84071" x2="46091" y2="84071"/>
                        <a14:foregroundMark x1="55144" y1="82743" x2="55144" y2="82743"/>
                        <a14:foregroundMark x1="67490" y1="84071" x2="67490" y2="84071"/>
                        <a14:foregroundMark x1="76955" y1="82301" x2="76955" y2="82301"/>
                        <a14:foregroundMark x1="58025" y1="38496" x2="58025" y2="38496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471" r="6679" b="-1"/>
          <a:stretch/>
        </p:blipFill>
        <p:spPr>
          <a:xfrm>
            <a:off x="7570839" y="1233419"/>
            <a:ext cx="3976788" cy="407112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3616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27FBCEB-EFA4-7E2A-F5E2-D8661D93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37825"/>
            <a:ext cx="5451626" cy="1905000"/>
          </a:xfrm>
        </p:spPr>
        <p:txBody>
          <a:bodyPr>
            <a:normAutofit/>
          </a:bodyPr>
          <a:lstStyle/>
          <a:p>
            <a:r>
              <a:rPr lang="fi-FI" sz="3600" dirty="0">
                <a:solidFill>
                  <a:srgbClr val="FFC000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fi-FI" sz="3600" dirty="0">
                <a:solidFill>
                  <a:schemeClr val="tx1"/>
                </a:soli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protovaihe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EC80AB7-4B5D-B23E-7337-4068A76B5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670" y="1464108"/>
            <a:ext cx="5603213" cy="4628579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Proton jälkeen päästiin tekemään </a:t>
            </a:r>
            <a:r>
              <a:rPr lang="fi-FI" dirty="0">
                <a:solidFill>
                  <a:schemeClr val="accent5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Liiketoimintasuunnitelma</a:t>
            </a:r>
            <a:endParaRPr lang="fi-FI" dirty="0">
              <a:solidFill>
                <a:schemeClr val="accent5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badi" panose="020B0604020104020204" pitchFamily="34" charset="0"/>
              <a:cs typeface="Aharoni" panose="02010803020104030203" pitchFamily="2" charset="-79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Etsittiin  MVP-</a:t>
            </a:r>
            <a:r>
              <a:rPr lang="fi-FI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verisolle</a:t>
            </a: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 tekijää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Tehtiin käyttäjäkyselytutkimusta. Osa vastaajista </a:t>
            </a:r>
            <a:r>
              <a:rPr lang="fi-FI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britanniassa</a:t>
            </a: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. Mukana tekemässä oli eräs siellä asuva henkilö mutta jättäytyi pois kelkasta ennen osakkaaksi ryhtymistä.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Käyttäjäkyselytutkimusten tulos innosti eteenpäin.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Huomattiin kuitenkin että </a:t>
            </a:r>
            <a:r>
              <a:rPr lang="fi-FI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mvp</a:t>
            </a: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- vaihe kannatti jättää toteuttamatta. Liian kallista teettää, epävarma ala. Kilpailija-analyysi osasyynä: Vastaaviin sovelluksiin tutustuminen, esim. </a:t>
            </a:r>
            <a:r>
              <a:rPr lang="fi-FI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commu</a:t>
            </a: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, nappinaapuri, kaverisovellus </a:t>
            </a:r>
            <a:r>
              <a:rPr lang="fi-FI" dirty="0" err="1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Frendie</a:t>
            </a: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solidFill>
                  <a:schemeClr val="tx1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Mahdollisuus tehdä MVP-versio myöhemmin omakustanteisesti(omilla osaamisilla)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fi-FI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Abadi" panose="020B0604020104020204" pitchFamily="34" charset="0"/>
              <a:cs typeface="Aharoni" panose="02010803020104030203" pitchFamily="2" charset="-79"/>
            </a:endParaRPr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D842AA75-327F-DCAF-315A-891744D25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3992" y1="67699" x2="13992" y2="67699"/>
                        <a14:foregroundMark x1="25103" y1="80088" x2="25103" y2="80088"/>
                        <a14:foregroundMark x1="46091" y1="84071" x2="46091" y2="84071"/>
                        <a14:foregroundMark x1="55144" y1="82743" x2="55144" y2="82743"/>
                        <a14:foregroundMark x1="67490" y1="84071" x2="67490" y2="84071"/>
                        <a14:foregroundMark x1="76955" y1="82301" x2="76955" y2="82301"/>
                        <a14:foregroundMark x1="58025" y1="38496" x2="58025" y2="38496"/>
                      </a14:backgroundRemoval>
                    </a14:imgEffect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193" y="733861"/>
            <a:ext cx="3355602" cy="3120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7507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E99AC16-7263-4CA4-E5D0-51F7C4DF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24" y="88306"/>
            <a:ext cx="9905998" cy="1905000"/>
          </a:xfrm>
        </p:spPr>
        <p:txBody>
          <a:bodyPr/>
          <a:lstStyle/>
          <a:p>
            <a:r>
              <a:rPr lang="fi-FI" dirty="0">
                <a:solidFill>
                  <a:schemeClr val="tx2"/>
                </a:solidFill>
                <a:latin typeface="Abadi" panose="020B0604020104020204" pitchFamily="34" charset="0"/>
              </a:rPr>
              <a:t>Omien sovellusideoiden kehittämisestä palveluntarjoajaksi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A2185C7-AEEF-AA03-0EBF-F625ABED8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22" y="2179179"/>
            <a:ext cx="11225901" cy="44648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sz="2200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Lisääntynyt kiinnostus sovelluskehittäjästä palvelun tarjoajaksi.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sz="2200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Koska en osaa luovuttaa ajoissa jatkoin alan opintojen parissa. Olinhan jo päässyt alkuun </a:t>
            </a:r>
            <a:r>
              <a:rPr lang="fi-FI" sz="2200" dirty="0" err="1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start-uppaajana</a:t>
            </a:r>
            <a:r>
              <a:rPr lang="fi-FI" sz="2200" dirty="0">
                <a:solidFill>
                  <a:schemeClr val="tx2"/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  <a:cs typeface="Aharoni" panose="02010803020104030203" pitchFamily="2" charset="-79"/>
              </a:rPr>
              <a:t>. Vaikkakin epäonnistuneena sellaisena.</a:t>
            </a:r>
            <a:endParaRPr lang="fi-FI" sz="2200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r>
              <a:rPr lang="fi-FI" sz="2200" dirty="0" err="1">
                <a:solidFill>
                  <a:schemeClr val="tx2"/>
                </a:solidFill>
                <a:latin typeface="Abadi" panose="020B0604020104020204" pitchFamily="34" charset="0"/>
              </a:rPr>
              <a:t>Featsy</a:t>
            </a:r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-sovellus toistaiseksi jäissä.</a:t>
            </a:r>
          </a:p>
          <a:p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Yritys on hankkinut viimeisen 2v aikana erityisesti osaamista sovelluskehitysalalla. Etenkin allekirjoittaneen opiskelut valmistavat täysipainoiseen palveluntarjoamiseen muille yrityksille.</a:t>
            </a:r>
          </a:p>
          <a:p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Yritys mahdollistaa tulevaisuudessa sovelluskehityksen lisäksi täysipainoisen ylläpidon asiakkaille ja tietokantaosaamisen ja hallinnan panostamalla myös rautaan. </a:t>
            </a:r>
          </a:p>
          <a:p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Yritys profiloituu ketteräksi toimien useiden eli alojen ja tietoteknisten ratkaisujen polttopisteessä. Yrittäjällä itsellään monipuolinen tausta teollisuuden ja prosessien parista.</a:t>
            </a:r>
          </a:p>
          <a:p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Yritys hakee vielä suuntaansa tiedon karttumisen myötä. </a:t>
            </a:r>
          </a:p>
          <a:p>
            <a:r>
              <a:rPr lang="fi-FI" sz="2200" dirty="0">
                <a:solidFill>
                  <a:schemeClr val="tx2"/>
                </a:solidFill>
                <a:latin typeface="Abadi" panose="020B0604020104020204" pitchFamily="34" charset="0"/>
              </a:rPr>
              <a:t>Toisella osakkaalla ei kuulemma vielä kiire alkaa hötkyillä aurinkorannikoilta.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134888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onta kysymysmerkkiä mustalla taustalla">
            <a:extLst>
              <a:ext uri="{FF2B5EF4-FFF2-40B4-BE49-F238E27FC236}">
                <a16:creationId xmlns:a16="http://schemas.microsoft.com/office/drawing/2014/main" id="{5676ECE6-ACFB-5475-B3E8-0824D482A4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t="77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76200">
            <a:extrusionClr>
              <a:srgbClr val="00B0F0"/>
            </a:extrusionClr>
          </a:sp3d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F555E1CE-3AAB-A617-3AEC-E7558FF8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fi-FI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Abadi" panose="020B0604020104020204" pitchFamily="34" charset="0"/>
              </a:rPr>
              <a:t>Tulevaisuuden näkymät ja tavoitteet</a:t>
            </a:r>
            <a:endParaRPr lang="fi-FI" dirty="0">
              <a:latin typeface="Abadi" panose="020B0604020104020204" pitchFamily="34" charset="0"/>
            </a:endParaRP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027F030-F440-F458-F1AE-651ECC991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Sovelluskehitystä eri alojen ammattilaisille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Firman splittaaminen jossain vaiheessa, "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tiimiytyminen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" jolloin mukaan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tekoälyosaaimsta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 ja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ioT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- osaamista etenkin prosessiteollisuuden sovellutuksiin.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pienellä tiimillä omien sovellusideoiden jalostamista. 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Pyrkimys pysyä innovatiivisena ja nuorekkaana oman tiensä kulkijana.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Pyrkimys löytää se oma sovellusidea joka lyö läpi ja mullistaa maailman kerta heitolla. </a:t>
            </a: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Toiminpisteet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: Kaakon kulmalla ja </a:t>
            </a:r>
            <a:r>
              <a:rPr lang="fi-FI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Pk-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Abadi" panose="020B0604020104020204" pitchFamily="34" charset="0"/>
              </a:rPr>
              <a:t> seudulla</a:t>
            </a:r>
            <a:r>
              <a:rPr lang="fi-FI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868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hakkimatti shakkipelissä">
            <a:extLst>
              <a:ext uri="{FF2B5EF4-FFF2-40B4-BE49-F238E27FC236}">
                <a16:creationId xmlns:a16="http://schemas.microsoft.com/office/drawing/2014/main" id="{0EF66F74-18A2-1482-66A6-DBDEC92420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</a:blip>
          <a:srcRect t="25743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1F2F9BF0-2BF4-F001-D243-DA6AED1E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609601"/>
            <a:ext cx="8676222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Kiitos kun katsoit esityksen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1C7119F-5CA8-92CA-102D-4A096F76B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51012" y="3886200"/>
            <a:ext cx="8676222" cy="1905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Loppu</a:t>
            </a:r>
          </a:p>
        </p:txBody>
      </p:sp>
    </p:spTree>
    <p:extLst>
      <p:ext uri="{BB962C8B-B14F-4D97-AF65-F5344CB8AC3E}">
        <p14:creationId xmlns:p14="http://schemas.microsoft.com/office/powerpoint/2010/main" val="14288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kko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TotalTime>456</TotalTime>
  <Words>439</Words>
  <Application>Microsoft Office PowerPoint</Application>
  <PresentationFormat>Laajakuva</PresentationFormat>
  <Paragraphs>52</Paragraphs>
  <Slides>9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9</vt:i4>
      </vt:variant>
    </vt:vector>
  </HeadingPairs>
  <TitlesOfParts>
    <vt:vector size="15" baseType="lpstr">
      <vt:lpstr>Abadi</vt:lpstr>
      <vt:lpstr>ADLaM Display</vt:lpstr>
      <vt:lpstr>Arial</vt:lpstr>
      <vt:lpstr>Calibri</vt:lpstr>
      <vt:lpstr>Century Gothic</vt:lpstr>
      <vt:lpstr>Verkko</vt:lpstr>
      <vt:lpstr>DreamButton Oy</vt:lpstr>
      <vt:lpstr>DreamButton Oy:n Tarina</vt:lpstr>
      <vt:lpstr>-Jollaista ei ole ennen nähty</vt:lpstr>
      <vt:lpstr>Featsysovelluksen katselmus</vt:lpstr>
      <vt:lpstr>Featsyn kehityshistoria</vt:lpstr>
      <vt:lpstr> protovaihe</vt:lpstr>
      <vt:lpstr>Omien sovellusideoiden kehittämisestä palveluntarjoajaksi </vt:lpstr>
      <vt:lpstr>Tulevaisuuden näkymät ja tavoitteet</vt:lpstr>
      <vt:lpstr>Kiitos kun katsoit esityksen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PowerPoint-esitys</dc:title>
  <dc:creator>Esko Taivassalo</dc:creator>
  <cp:lastModifiedBy>Esko Taivassalo</cp:lastModifiedBy>
  <cp:revision>276</cp:revision>
  <dcterms:created xsi:type="dcterms:W3CDTF">2024-05-30T15:39:17Z</dcterms:created>
  <dcterms:modified xsi:type="dcterms:W3CDTF">2024-06-02T16:30:05Z</dcterms:modified>
</cp:coreProperties>
</file>